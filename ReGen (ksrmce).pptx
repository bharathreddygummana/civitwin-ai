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D88D360-986F-E223-0612-C7A70EF90BEA}">
          <p14:sldIdLst>
            <p14:sldId id="256"/>
          </p14:sldIdLst>
        </p14:section>
        <p14:section name="Problem and Solution" id="{AC76D227-F338-A356-615F-DE635BF90C18}">
          <p14:sldIdLst>
            <p14:sldId id="257"/>
            <p14:sldId id="258"/>
            <p14:sldId id="259"/>
          </p14:sldIdLst>
        </p14:section>
        <p14:section name="Approach" id="{4E6D8299-9D96-9811-E662-4575ADD4BB6B}">
          <p14:sldIdLst>
            <p14:sldId id="260"/>
            <p14:sldId id="261"/>
          </p14:sldIdLst>
        </p14:section>
        <p14:section name="Prototype and Impact" id="{138C98E6-26CE-3A1A-54FB-D889770B12E8}">
          <p14:sldIdLst>
            <p14:sldId id="262"/>
            <p14:sldId id="263"/>
            <p14:sldId id="264"/>
          </p14:sldIdLst>
        </p14:section>
        <p14:section name="Close" id="{66666793-1E02-B4FA-7E93-123CCDE97999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93593A-C17B-4C09-AF0E-FCB41534286E}" v="38" dt="2026-10-11T14:40:55.4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88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mmana Bharath Reddy" userId="0ab242436b650565" providerId="LiveId" clId="{922D6C27-CECC-40F9-B119-A6DFC6BB969F}"/>
    <pc:docChg chg="undo custSel modSld">
      <pc:chgData name="Gummana Bharath Reddy" userId="0ab242436b650565" providerId="LiveId" clId="{922D6C27-CECC-40F9-B119-A6DFC6BB969F}" dt="2026-10-11T14:41:10.400" v="52" actId="20577"/>
      <pc:docMkLst>
        <pc:docMk/>
      </pc:docMkLst>
      <pc:sldChg chg="delSp modSp mod modTransition">
        <pc:chgData name="Gummana Bharath Reddy" userId="0ab242436b650565" providerId="LiveId" clId="{922D6C27-CECC-40F9-B119-A6DFC6BB969F}" dt="2026-10-11T13:58:57.798" v="39" actId="20577"/>
        <pc:sldMkLst>
          <pc:docMk/>
          <pc:sldMk cId="0" sldId="256"/>
        </pc:sldMkLst>
        <pc:spChg chg="del mod">
          <ac:chgData name="Gummana Bharath Reddy" userId="0ab242436b650565" providerId="LiveId" clId="{922D6C27-CECC-40F9-B119-A6DFC6BB969F}" dt="2026-10-11T13:23:26.203" v="2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Gummana Bharath Reddy" userId="0ab242436b650565" providerId="LiveId" clId="{922D6C27-CECC-40F9-B119-A6DFC6BB969F}" dt="2026-10-11T13:58:57.798" v="39" actId="20577"/>
          <ac:spMkLst>
            <pc:docMk/>
            <pc:sldMk cId="0" sldId="256"/>
            <ac:spMk id="8" creationId="{00000000-0000-0000-0000-000000000000}"/>
          </ac:spMkLst>
        </pc:spChg>
      </pc:sldChg>
      <pc:sldChg chg="modTransition">
        <pc:chgData name="Gummana Bharath Reddy" userId="0ab242436b650565" providerId="LiveId" clId="{922D6C27-CECC-40F9-B119-A6DFC6BB969F}" dt="2026-10-11T13:44:45.896" v="38"/>
        <pc:sldMkLst>
          <pc:docMk/>
          <pc:sldMk cId="0" sldId="257"/>
        </pc:sldMkLst>
      </pc:sldChg>
      <pc:sldChg chg="modTransition">
        <pc:chgData name="Gummana Bharath Reddy" userId="0ab242436b650565" providerId="LiveId" clId="{922D6C27-CECC-40F9-B119-A6DFC6BB969F}" dt="2026-10-11T13:41:46.336" v="25"/>
        <pc:sldMkLst>
          <pc:docMk/>
          <pc:sldMk cId="0" sldId="258"/>
        </pc:sldMkLst>
      </pc:sldChg>
      <pc:sldChg chg="modTransition">
        <pc:chgData name="Gummana Bharath Reddy" userId="0ab242436b650565" providerId="LiveId" clId="{922D6C27-CECC-40F9-B119-A6DFC6BB969F}" dt="2026-10-11T13:41:46.336" v="25"/>
        <pc:sldMkLst>
          <pc:docMk/>
          <pc:sldMk cId="0" sldId="259"/>
        </pc:sldMkLst>
      </pc:sldChg>
      <pc:sldChg chg="modSp mod">
        <pc:chgData name="Gummana Bharath Reddy" userId="0ab242436b650565" providerId="LiveId" clId="{922D6C27-CECC-40F9-B119-A6DFC6BB969F}" dt="2026-10-11T14:41:10.400" v="52" actId="20577"/>
        <pc:sldMkLst>
          <pc:docMk/>
          <pc:sldMk cId="0" sldId="264"/>
        </pc:sldMkLst>
        <pc:spChg chg="mod">
          <ac:chgData name="Gummana Bharath Reddy" userId="0ab242436b650565" providerId="LiveId" clId="{922D6C27-CECC-40F9-B119-A6DFC6BB969F}" dt="2026-10-11T14:41:10.400" v="52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Gummana Bharath Reddy" userId="0ab242436b650565" providerId="LiveId" clId="{922D6C27-CECC-40F9-B119-A6DFC6BB969F}" dt="2026-10-11T14:40:56.419" v="44" actId="6549"/>
          <ac:spMkLst>
            <pc:docMk/>
            <pc:sldMk cId="0" sldId="264"/>
            <ac:spMk id="11" creationId="{00000000-0000-0000-0000-000000000000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BD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3D3-46A1-B0D9-48369BAE991B}"/>
              </c:ext>
            </c:extLst>
          </c:dPt>
          <c:dPt>
            <c:idx val="1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3D3-46A1-B0D9-48369BAE991B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3D3-46A1-B0D9-48369BAE991B}"/>
              </c:ext>
            </c:extLst>
          </c:dPt>
          <c:dPt>
            <c:idx val="3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3D3-46A1-B0D9-48369BAE991B}"/>
              </c:ext>
            </c:extLst>
          </c:dPt>
          <c:dPt>
            <c:idx val="4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3D3-46A1-B0D9-48369BAE991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63D3-46A1-B0D9-48369BAE991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63D3-46A1-B0D9-48369BAE991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63D3-46A1-B0D9-48369BAE991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63D3-46A1-B0D9-48369BAE991B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63D3-46A1-B0D9-48369BAE991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Waterlogging (W)</c:v>
                </c:pt>
                <c:pt idx="1">
                  <c:v>Blockage (B)</c:v>
                </c:pt>
                <c:pt idx="2">
                  <c:v>Damage (D)</c:v>
                </c:pt>
                <c:pt idx="3">
                  <c:v>Vulnerability (V)</c:v>
                </c:pt>
                <c:pt idx="4">
                  <c:v>Importance (I)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</c:v>
                </c:pt>
                <c:pt idx="1">
                  <c:v>0.25</c:v>
                </c:pt>
                <c:pt idx="2">
                  <c:v>0.2</c:v>
                </c:pt>
                <c:pt idx="3">
                  <c:v>0.15</c:v>
                </c:pt>
                <c:pt idx="4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3D3-46A1-B0D9-48369BAE99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400">
              <a:solidFill>
                <a:srgbClr val="0B12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278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hook: road problems become public problems because we find them late. CiviTwin AI flips that - we predict and prioritize. Introduce yourself and the one-line idea. Keep this slide under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pain: inspections are manual, damage is found after complaints, and drainage and road condition are looked at in separate silos. Land the closing banner: we need one integrated, prioritized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hero slide. The picture shows what the detection step produces. Walk through the five features quickly - image detection, rainfall and drainage screening, segment scoring, GIS-style view, automated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what we set out to do. Right: why it is different. Stress the word 'explainable' - every priority score comes with the reasons behind it, which is what makes it trustworthy to engineers.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architecture left to right: data comes in, we analyze images and environment together, a scoring engine turns that into a number, the dashboard shows it, and the report is what the inspection team takes into the field. Everything uses free, accessible Python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steps, then the formula. Be upfront: the weights are starting assumptions for the demo, not certified engineering values - they need calibration with field data. That honesty is a strength with judges.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screenshot is a mock-up of the dashboard with sample data. Four modules cover the whole story. If you demo live: upload an image, enter rainfall and drainage values, calculate, show the ranked list, export the CSV - about two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it is realistic: free tools, no hardware, buildable in a couple of days. Then be candid about limits - detections need human verification and scores are screening-level, not certified. Judges respect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brief. Mention RDD2022 as the road-damage dataset the approach builds on and the NASA GPM data as the rainfall source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verbs: Predict, Prioritize, Maintain. Thank the judges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051560"/>
            <a:ext cx="6126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CiviTwin AI  |  Civil Engineering Hackathon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18872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hyperlink" Target="https://github.com/sekilab/RoadDamageDetector" TargetMode="External"/><Relationship Id="rId5" Type="http://schemas.openxmlformats.org/officeDocument/2006/relationships/hyperlink" Target="https://gpm.nasa.gov/data/directory" TargetMode="External"/><Relationship Id="rId6" Type="http://schemas.openxmlformats.org/officeDocument/2006/relationships/hyperlink" Target="https://docs.streamlit.io/" TargetMode="External"/><Relationship Id="rId7" Type="http://schemas.openxmlformats.org/officeDocument/2006/relationships/hyperlink" Target="https://docs.opencv.org/" TargetMode="External"/><Relationship Id="rId8" Type="http://schemas.openxmlformats.org/officeDocument/2006/relationships/hyperlink" Target="https://python-visualization.github.io/folium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05156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CiviTwin AI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19456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bg2"/>
                </a:solidFill>
              </a:rPr>
              <a:t>AI-Powered Flood Preparedness Planner for Local Roads and Drains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15468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Prepare streets for heavy rain before it arrives.</a:t>
            </a:r>
            <a:endParaRPr lang="en-US" sz="1800" dirty="0"/>
          </a:p>
          <a:p>
            <a:pPr marL="0" indent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Track: IC26-05-04 ClimateReady: Local Heat and Flood Preparedness Planner (Software)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06908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Bharath Reddy Gummana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P. Sharmila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Y. Muni Jagan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02920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Department of Civil Engineering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KSRM College of Engineering, Kadapa.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5806440"/>
            <a:ext cx="640080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5806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389888" y="5806440"/>
            <a:ext cx="1828800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89888" y="5806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Climate Resilience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328416" y="5806440"/>
            <a:ext cx="685800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28416" y="58064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GIS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123944" y="5806440"/>
            <a:ext cx="1645920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23944" y="5806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Flood Preparedness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The Challenge: Roads Unprepared for Heavy Rain</a:t>
            </a:r>
            <a:endParaRPr lang="en-US" sz="3600" dirty="0"/>
          </a:p>
        </p:txBody>
      </p:sp>
      <p:pic>
        <p:nvPicPr>
          <p:cNvPr id="3" name="Image 0" descr="/home/claude/img/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3895344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54880" y="1325880"/>
            <a:ext cx="68580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919472" y="14401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916" y="1563624"/>
            <a:ext cx="210312" cy="2103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577840" y="1325880"/>
            <a:ext cx="5897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Heavy rain turns damaged, poorly drained roads into flood points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4754880" y="2203704"/>
            <a:ext cx="68580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919472" y="2318004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2916" y="2441448"/>
            <a:ext cx="210312" cy="21031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577840" y="2203704"/>
            <a:ext cx="5897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Drain blockages are found after flooding, not before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4754880" y="3081528"/>
            <a:ext cx="68580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919472" y="319582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2916" y="3319272"/>
            <a:ext cx="210312" cy="21031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577840" y="3081528"/>
            <a:ext cx="5897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Road damage, drainage and rainfall are assessed separately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4754880" y="3959352"/>
            <a:ext cx="68580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919472" y="407365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2916" y="4197096"/>
            <a:ext cx="210312" cy="21031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577840" y="3959352"/>
            <a:ext cx="5897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Low-lying areas and critical sites get no extra priority</a:t>
            </a:r>
            <a:endParaRPr lang="en-US" sz="1700" dirty="0"/>
          </a:p>
        </p:txBody>
      </p:sp>
      <p:sp>
        <p:nvSpPr>
          <p:cNvPr id="20" name="Shape 13"/>
          <p:cNvSpPr/>
          <p:nvPr/>
        </p:nvSpPr>
        <p:spPr>
          <a:xfrm>
            <a:off x="4754880" y="4837176"/>
            <a:ext cx="68580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919472" y="495147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2916" y="5074920"/>
            <a:ext cx="210312" cy="21031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577840" y="4837176"/>
            <a:ext cx="5897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Local bodies lack a simple pre-monsoon action list</a:t>
            </a:r>
            <a:endParaRPr lang="en-US" sz="1700" dirty="0"/>
          </a:p>
        </p:txBody>
      </p:sp>
      <p:sp>
        <p:nvSpPr>
          <p:cNvPr id="24" name="Shape 16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tx1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777240" y="57150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</a:rPr>
              <a:t>The need:  </a:t>
            </a:r>
            <a:r>
              <a:rPr lang="en-US" sz="1600" dirty="0">
                <a:solidFill>
                  <a:srgbClr val="FFFFFF"/>
                </a:solidFill>
              </a:rPr>
              <a:t>a local planning tool that links road condition, drainage and rainfall to a ranked flood-preparedness plan.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Introducing CiviTwin AI</a:t>
            </a:r>
            <a:endParaRPr lang="en-US" sz="3600" dirty="0"/>
          </a:p>
        </p:txBody>
      </p:sp>
      <p:pic>
        <p:nvPicPr>
          <p:cNvPr id="3" name="Image 0" descr="/home/claude/img/det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5852160" cy="3721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1206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Illustrative output: AI-assisted detection of potholes and cracks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766560" y="132588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software decision-support tool for local flood preparedness, combining computer vision, rainfall and drainage risk analysis, vulnerability inputs and action planning.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766560" y="2734056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128" y="2847624"/>
            <a:ext cx="193487" cy="19348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60920" y="2697480"/>
            <a:ext cx="4251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Pothole and crack screening from images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766560" y="3300984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128" y="3414552"/>
            <a:ext cx="193487" cy="19348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360920" y="3264408"/>
            <a:ext cx="4251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Rainfall and drainage-based waterlogging screening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766560" y="3867912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0128" y="3981480"/>
            <a:ext cx="193487" cy="19348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360920" y="3831336"/>
            <a:ext cx="4251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Segment risk score with a vulnerability factor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766560" y="4434840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0128" y="4548408"/>
            <a:ext cx="193487" cy="193487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360920" y="4398264"/>
            <a:ext cx="4251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GIS-style map of flood-prone roads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6766560" y="5001768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0128" y="5115336"/>
            <a:ext cx="193487" cy="193487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360920" y="4965192"/>
            <a:ext cx="4251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Preparedness action list and downloadable reports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</p:sp>
      <p:sp>
        <p:nvSpPr>
          <p:cNvPr id="22" name="Text 14"/>
          <p:cNvSpPr txBox="1"/>
          <p:nvPr/>
        </p:nvSpPr>
        <p:spPr>
          <a:xfrm>
            <a:off x="77724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Expected outcome:  </a:t>
            </a:r>
            <a:r>
              <a:rPr lang="en-US" sz="1700" dirty="0">
                <a:solidFill>
                  <a:schemeClr val="tx1"/>
                </a:solidFill>
              </a:rPr>
              <a:t>drains cleared, roads repaired and warnings issued where they matter most, before heavy rain.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ransition spd="slow">
    <p:comb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Objectives and Novelty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Project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85216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8308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Identify road defects that worsen water accumulation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585216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8163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670048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Estimate waterlogging risk from rainfall and drainage inputs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585216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57016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Account for vulnerability: low-lying zones and critical facilities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585216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5902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44398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Generate an explainable risk score per road segment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330952"/>
            <a:ext cx="585216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54772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477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330952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Produce prioritized preparedness actions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66560" y="1280160"/>
            <a:ext cx="4846320" cy="4983480"/>
          </a:xfrm>
          <a:prstGeom prst="roundRect">
            <a:avLst>
              <a:gd name="adj" fmla="val 2264"/>
            </a:avLst>
          </a:prstGeom>
          <a:solidFill>
            <a:schemeClr val="tx1"/>
          </a:solidFill>
          <a:ln/>
        </p:spPr>
      </p:sp>
      <p:sp>
        <p:nvSpPr>
          <p:cNvPr id="25" name="Shape 23"/>
          <p:cNvSpPr/>
          <p:nvPr/>
        </p:nvSpPr>
        <p:spPr>
          <a:xfrm>
            <a:off x="7040880" y="150876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668" y="1644548"/>
            <a:ext cx="231343" cy="231343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680960" y="1508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What makes it innovative?</a:t>
            </a:r>
            <a:endParaRPr lang="en-US" sz="20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350008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498080" y="2240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Road condition, drainage and vulnerability in one workflow</a:t>
            </a:r>
            <a:endParaRPr lang="en-US" sz="15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3035808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7498080" y="2926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Image analysis combined with environmental and infrastructure inputs</a:t>
            </a:r>
            <a:endParaRPr lang="en-US" sz="15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3721608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498080" y="3611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Explains why a segment gets its priority</a:t>
            </a:r>
            <a:endParaRPr lang="en-US" sz="15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407408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498080" y="4297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Recommends actions, not only a score</a:t>
            </a:r>
            <a:endParaRPr lang="en-US" sz="1500" dirty="0"/>
          </a:p>
        </p:txBody>
      </p:sp>
      <p:sp>
        <p:nvSpPr>
          <p:cNvPr id="36" name="Shape 29"/>
          <p:cNvSpPr/>
          <p:nvPr/>
        </p:nvSpPr>
        <p:spPr>
          <a:xfrm>
            <a:off x="7040880" y="5074920"/>
            <a:ext cx="4297680" cy="960120"/>
          </a:xfrm>
          <a:prstGeom prst="roundRect">
            <a:avLst>
              <a:gd name="adj" fmla="val 9524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7178040" y="50749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Novelty: </a:t>
            </a:r>
            <a:r>
              <a:rPr lang="en-US" sz="1400" i="1" dirty="0">
                <a:solidFill>
                  <a:srgbClr val="FFFFFF"/>
                </a:solidFill>
              </a:rPr>
              <a:t>flood risk, community vulnerability and recommended actions in one explainable platform.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ransition spd="slow">
    <p:comb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Technology Approach and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9202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61872" y="141732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660" y="1553108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9842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Input Data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514600" y="1874520"/>
            <a:ext cx="27432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8" name="Shape 5"/>
          <p:cNvSpPr/>
          <p:nvPr/>
        </p:nvSpPr>
        <p:spPr>
          <a:xfrm>
            <a:off x="2834640" y="1325880"/>
            <a:ext cx="19202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47872" y="141732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660" y="1553108"/>
            <a:ext cx="231343" cy="23134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26080" y="19842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Image Processing and Risk Analysis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800600" y="1874520"/>
            <a:ext cx="27432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3" name="Shape 9"/>
          <p:cNvSpPr/>
          <p:nvPr/>
        </p:nvSpPr>
        <p:spPr>
          <a:xfrm>
            <a:off x="5120640" y="1325880"/>
            <a:ext cx="19202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833872" y="14173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660" y="1553108"/>
            <a:ext cx="231343" cy="23134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12080" y="19842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Risk Scoring Engine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7086600" y="1874520"/>
            <a:ext cx="27432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8" name="Shape 13"/>
          <p:cNvSpPr/>
          <p:nvPr/>
        </p:nvSpPr>
        <p:spPr>
          <a:xfrm>
            <a:off x="7406640" y="1325880"/>
            <a:ext cx="19202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119872" y="141732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5660" y="1553108"/>
            <a:ext cx="231343" cy="23134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98080" y="19842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GIS-Style Dashboard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9372600" y="1874520"/>
            <a:ext cx="27432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3" name="Shape 17"/>
          <p:cNvSpPr/>
          <p:nvPr/>
        </p:nvSpPr>
        <p:spPr>
          <a:xfrm>
            <a:off x="9692640" y="1325880"/>
            <a:ext cx="19202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0405872" y="141732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1660" y="1553108"/>
            <a:ext cx="231343" cy="23134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784080" y="19842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Preparedness Action Plan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548640" y="2880360"/>
            <a:ext cx="5486400" cy="3429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1"/>
          <p:cNvSpPr txBox="1"/>
          <p:nvPr/>
        </p:nvSpPr>
        <p:spPr>
          <a:xfrm>
            <a:off x="777240" y="29992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Technology Stack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777240" y="3429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Programming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2377440" y="3429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Python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777240" y="38221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Web app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2377440" y="3822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Streamlit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777240" y="42153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Computer vision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2377440" y="421538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OpenCV + pretrained road-damage model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777240" y="460857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Risk analysis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2377440" y="460857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Weighted scoring rules</a:t>
            </a:r>
            <a:endParaRPr lang="en-US" sz="1400" dirty="0"/>
          </a:p>
        </p:txBody>
      </p:sp>
      <p:sp>
        <p:nvSpPr>
          <p:cNvPr id="37" name="Text 30"/>
          <p:cNvSpPr txBox="1"/>
          <p:nvPr/>
        </p:nvSpPr>
        <p:spPr>
          <a:xfrm>
            <a:off x="777240" y="50017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Visualization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2377440" y="50017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Plotly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777240" y="5394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Mapping</a:t>
            </a:r>
            <a:endParaRPr lang="en-US" sz="1400" dirty="0"/>
          </a:p>
        </p:txBody>
      </p:sp>
      <p:sp>
        <p:nvSpPr>
          <p:cNvPr id="40" name="Text 33"/>
          <p:cNvSpPr txBox="1"/>
          <p:nvPr/>
        </p:nvSpPr>
        <p:spPr>
          <a:xfrm>
            <a:off x="2377440" y="53949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Folium or schematic road network</a:t>
            </a:r>
            <a:endParaRPr lang="en-US" sz="1400" dirty="0"/>
          </a:p>
        </p:txBody>
      </p:sp>
      <p:sp>
        <p:nvSpPr>
          <p:cNvPr id="41" name="Text 34"/>
          <p:cNvSpPr txBox="1"/>
          <p:nvPr/>
        </p:nvSpPr>
        <p:spPr>
          <a:xfrm>
            <a:off x="777240" y="57881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Data</a:t>
            </a:r>
            <a:endParaRPr lang="en-US" sz="1400" dirty="0"/>
          </a:p>
        </p:txBody>
      </p:sp>
      <p:sp>
        <p:nvSpPr>
          <p:cNvPr id="42" name="Text 35"/>
          <p:cNvSpPr txBox="1"/>
          <p:nvPr/>
        </p:nvSpPr>
        <p:spPr>
          <a:xfrm>
            <a:off x="2377440" y="57881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CSV or SQLite</a:t>
            </a:r>
            <a:endParaRPr lang="en-US" sz="1400" dirty="0"/>
          </a:p>
        </p:txBody>
      </p:sp>
      <p:sp>
        <p:nvSpPr>
          <p:cNvPr id="43" name="Shape 36"/>
          <p:cNvSpPr/>
          <p:nvPr/>
        </p:nvSpPr>
        <p:spPr>
          <a:xfrm>
            <a:off x="6309360" y="2880360"/>
            <a:ext cx="530352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6492240" y="3035808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6812280" y="29718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Inputs</a:t>
            </a:r>
            <a:endParaRPr lang="en-US" sz="1700" dirty="0"/>
          </a:p>
        </p:txBody>
      </p:sp>
      <p:sp>
        <p:nvSpPr>
          <p:cNvPr id="46" name="Text 39"/>
          <p:cNvSpPr txBox="1"/>
          <p:nvPr/>
        </p:nvSpPr>
        <p:spPr>
          <a:xfrm>
            <a:off x="6492240" y="335584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Road photographs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Rainfall intensity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Drainage blockage condition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Road importance and vulnerability</a:t>
            </a:r>
            <a:endParaRPr lang="en-US" sz="1400" dirty="0"/>
          </a:p>
        </p:txBody>
      </p:sp>
      <p:sp>
        <p:nvSpPr>
          <p:cNvPr id="47" name="Shape 40"/>
          <p:cNvSpPr/>
          <p:nvPr/>
        </p:nvSpPr>
        <p:spPr>
          <a:xfrm>
            <a:off x="6309360" y="4617720"/>
            <a:ext cx="530352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6492240" y="4773168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9" name="Text 42"/>
          <p:cNvSpPr txBox="1"/>
          <p:nvPr/>
        </p:nvSpPr>
        <p:spPr>
          <a:xfrm>
            <a:off x="6812280" y="47091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Outputs</a:t>
            </a:r>
            <a:endParaRPr lang="en-US" sz="1700" dirty="0"/>
          </a:p>
        </p:txBody>
      </p:sp>
      <p:sp>
        <p:nvSpPr>
          <p:cNvPr id="50" name="Text 43"/>
          <p:cNvSpPr txBox="1"/>
          <p:nvPr/>
        </p:nvSpPr>
        <p:spPr>
          <a:xfrm>
            <a:off x="6492240" y="509320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Detected or verified defects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Waterlogging risk indicator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Road-segment priority score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Suggested preparedness actions</a:t>
            </a:r>
            <a:endParaRPr lang="en-US" sz="14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ransition spd="med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How CiviTwin AI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463040" y="1645920"/>
            <a:ext cx="92354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187196" y="13624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7196" y="1362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01980" y="20574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Upload a road photograph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31236" y="13624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31236" y="1362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446020" y="20574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Analyze image for visible damage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75276" y="13624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75276" y="1362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290060" y="20574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Enter rainfall and drainage condition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19316" y="13624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19316" y="1362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134100" y="20574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Tag vulnerability and road importance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63356" y="1362456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63356" y="1362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978140" y="20574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Calculate flood risk and priority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407396" y="13624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407396" y="1362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822180" y="20574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Recommend actions and export report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063240"/>
            <a:ext cx="5760720" cy="3246120"/>
          </a:xfrm>
          <a:prstGeom prst="roundRect">
            <a:avLst>
              <a:gd name="adj" fmla="val 3380"/>
            </a:avLst>
          </a:prstGeom>
          <a:solidFill>
            <a:schemeClr val="tx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3200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ILLUSTRATIVE RISK-SCORING FORMULA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35661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R = 0.30W + 0.25B + 0.20D + 0.15V + 0.10I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29768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</a:rPr>
              <a:t>W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42976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Waterlogging risk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62686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</a:rPr>
              <a:t>B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462686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Drainage blockage severity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95604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D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495604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Road damage severity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28523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</a:rPr>
              <a:t>V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234440" y="52852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Vulnerability (low-lying, critical sites)</a:t>
            </a:r>
            <a:endParaRPr lang="en-US" sz="1500" dirty="0"/>
          </a:p>
        </p:txBody>
      </p:sp>
      <p:sp>
        <p:nvSpPr>
          <p:cNvPr id="41" name="Text 29"/>
          <p:cNvSpPr txBox="1"/>
          <p:nvPr/>
        </p:nvSpPr>
        <p:spPr>
          <a:xfrm>
            <a:off x="822960" y="561441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</a:rPr>
              <a:t>I</a:t>
            </a:r>
            <a:endParaRPr lang="en-US" sz="1800" dirty="0"/>
          </a:p>
        </p:txBody>
      </p:sp>
      <p:sp>
        <p:nvSpPr>
          <p:cNvPr id="42" name="Text 30"/>
          <p:cNvSpPr txBox="1"/>
          <p:nvPr/>
        </p:nvSpPr>
        <p:spPr>
          <a:xfrm>
            <a:off x="1234440" y="561441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Road importance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5989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2"/>
                </a:solidFill>
              </a:rPr>
              <a:t>Each input is normalized to a score between 0 and 100.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83680" y="3063240"/>
            <a:ext cx="502920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81228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Weight of each factor in R</a:t>
            </a:r>
            <a:endParaRPr lang="en-US" sz="1400" dirty="0"/>
          </a:p>
        </p:txBody>
      </p:sp>
      <p:graphicFrame>
        <p:nvGraphicFramePr>
          <p:cNvPr id="36" name="Chart 0"/>
          <p:cNvGraphicFramePr/>
          <p:nvPr/>
        </p:nvGraphicFramePr>
        <p:xfrm>
          <a:off x="6675120" y="3474720"/>
          <a:ext cx="48463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" name="Shape 34"/>
          <p:cNvSpPr/>
          <p:nvPr/>
        </p:nvSpPr>
        <p:spPr>
          <a:xfrm>
            <a:off x="6583680" y="5577840"/>
            <a:ext cx="5029200" cy="731520"/>
          </a:xfrm>
          <a:prstGeom prst="roundRect">
            <a:avLst>
              <a:gd name="adj" fmla="val 12500"/>
            </a:avLst>
          </a:prstGeom>
          <a:solidFill>
            <a:schemeClr val="accent2">
              <a:alpha val="20000"/>
            </a:schemeClr>
          </a:solidFill>
          <a:ln/>
        </p:spPr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5824728"/>
            <a:ext cx="246888" cy="246888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7178040" y="557784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Weights are demonstration assumptions. Calibrate and validate with field data before deployment.</a:t>
            </a:r>
            <a:endParaRPr lang="en-US" sz="14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Proposed Software Prototype</a:t>
            </a:r>
            <a:endParaRPr lang="en-US" sz="3600" dirty="0"/>
          </a:p>
        </p:txBody>
      </p:sp>
      <p:pic>
        <p:nvPicPr>
          <p:cNvPr id="3" name="Image 0" descr="/home/claude/img/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6583680" cy="3730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193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LIVE DEMO FLOW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5468112"/>
            <a:ext cx="109728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54681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Upload image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673352" y="5650992"/>
            <a:ext cx="219456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Shape 5"/>
          <p:cNvSpPr/>
          <p:nvPr/>
        </p:nvSpPr>
        <p:spPr>
          <a:xfrm>
            <a:off x="1920240" y="5468112"/>
            <a:ext cx="109728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920240" y="54681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Enter conditions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044952" y="5650992"/>
            <a:ext cx="219456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1" name="Shape 8"/>
          <p:cNvSpPr/>
          <p:nvPr/>
        </p:nvSpPr>
        <p:spPr>
          <a:xfrm>
            <a:off x="3291840" y="5468112"/>
            <a:ext cx="109728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291840" y="54681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Calculate risk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16552" y="5650992"/>
            <a:ext cx="219456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4" name="Shape 11"/>
          <p:cNvSpPr/>
          <p:nvPr/>
        </p:nvSpPr>
        <p:spPr>
          <a:xfrm>
            <a:off x="4663440" y="5468112"/>
            <a:ext cx="109728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663440" y="54681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 actions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788152" y="5650992"/>
            <a:ext cx="219456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7" name="Shape 14"/>
          <p:cNvSpPr/>
          <p:nvPr/>
        </p:nvSpPr>
        <p:spPr>
          <a:xfrm>
            <a:off x="6035040" y="5468112"/>
            <a:ext cx="109728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035040" y="54681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Export report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406640" y="1325880"/>
            <a:ext cx="42062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58952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  Road Inspection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589520" y="17647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Upload images, view detections, record segment details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406640" y="2514600"/>
            <a:ext cx="42062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7589520" y="2606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  Risk Assessment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589520" y="29535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Enter rainfall, drainage and vulnerability; get an explained score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406640" y="3703320"/>
            <a:ext cx="42062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7589520" y="3794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  Flood Risk Dashboard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7589520" y="41422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Sample segments, risk indicators, ranked readiness table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406640" y="4892040"/>
            <a:ext cx="42062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7589520" y="4983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  Preparedness Plan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7589520" y="53309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Ranked actions by urgency, exported with risk factors to CSV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Feasibility, Viability and Impact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361188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554480"/>
            <a:ext cx="594360" cy="59436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7" y="1714957"/>
            <a:ext cx="273406" cy="2734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544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Technical Feasibility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31089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Open-source Python libraries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sensors or special hardware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Works with sample images and manual inputs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Basic prototype in 1 to 2 days with limited scope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97680" y="1325880"/>
            <a:ext cx="3566160" cy="361188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0" y="1554480"/>
            <a:ext cx="594360" cy="59436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477" y="1714957"/>
            <a:ext cx="273406" cy="27340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5544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Economic Viability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377440"/>
            <a:ext cx="31089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Prototype built with free tools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dedicated hardware for the demo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Future costs: hosting, data, model upkeep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Users: municipalities, road agencies, consultants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046720" y="1325880"/>
            <a:ext cx="3566160" cy="361188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21040" y="1554480"/>
            <a:ext cx="594360" cy="59436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517" y="1714957"/>
            <a:ext cx="273406" cy="27340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2560" y="15544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Expected Impact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377440"/>
            <a:ext cx="31089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Earlier identification of likely flood points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Targeted pre-monsoon drain and road work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Better protection for schools, hospitals and low-lying areas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Records for resilience planning; heat layer as a future add-on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19" name="Shape 14"/>
          <p:cNvSpPr/>
          <p:nvPr/>
        </p:nvSpPr>
        <p:spPr>
          <a:xfrm>
            <a:off x="777240" y="5413248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717" y="5573725"/>
            <a:ext cx="273406" cy="27340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5230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Limitations and risk mitigation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1554480" y="55961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AI detections require human verification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937760" y="55961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Risk scores are not certified engineering assessments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8321040" y="55961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Field validation is needed before real-world use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ransition spd="med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chemeClr val="tx1"/>
                </a:solidFill>
              </a:rPr>
              <a:t>References Taken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291840" cy="466344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4" name="Shape 2"/>
          <p:cNvSpPr/>
          <p:nvPr/>
        </p:nvSpPr>
        <p:spPr>
          <a:xfrm>
            <a:off x="1783080" y="1828800"/>
            <a:ext cx="822960" cy="82296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279" y="2050999"/>
            <a:ext cx="378562" cy="3785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926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Resources behind the approach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9319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bg2"/>
                </a:solidFill>
              </a:rPr>
              <a:t>Any dataset, model or methodology used in the final prototype will be cited accurately.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0" y="1325880"/>
            <a:ext cx="7498080" cy="859536"/>
          </a:xfrm>
          <a:prstGeom prst="roundRect">
            <a:avLst>
              <a:gd name="adj" fmla="val 1276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97680" y="154533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297680" y="1545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1325880"/>
            <a:ext cx="6492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Arya, D., et al. (2022). RDD2022: A multi-national image dataset for automatic Road Damage Detection.</a:t>
            </a:r>
          </a:p>
          <a:p>
            <a:pPr marL="0" indent="0">
              <a:buNone/>
            </a:pPr>
            <a:r>
              <a:rPr lang="en-US" sz="1300" u="sng" dirty="0">
                <a:solidFill>
                  <a:srgbClr val="0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https://github.com/sekilab/RoadDamageDetector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114800" y="2276856"/>
            <a:ext cx="7498080" cy="859536"/>
          </a:xfrm>
          <a:prstGeom prst="roundRect">
            <a:avLst>
              <a:gd name="adj" fmla="val 1276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97680" y="249631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2976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2276856"/>
            <a:ext cx="6492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NASA Global Precipitation Measurement (GPM). Precipitation data and resources.</a:t>
            </a:r>
            <a:endParaRPr lang="en-US" sz="1400" dirty="0"/>
          </a:p>
          <a:p>
            <a:pPr marL="0" indent="0">
              <a:buNone/>
            </a:pPr>
            <a:r>
              <a:rPr lang="en-US" sz="1300" u="sng" dirty="0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https://gpm.nasa.gov/data/directory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114800" y="3227832"/>
            <a:ext cx="7498080" cy="859536"/>
          </a:xfrm>
          <a:prstGeom prst="roundRect">
            <a:avLst>
              <a:gd name="adj" fmla="val 1276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97680" y="34472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2976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937760" y="3227832"/>
            <a:ext cx="6492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Streamlit. Official documentation for building interactive Python applications.</a:t>
            </a:r>
            <a:endParaRPr lang="en-US" sz="1400" dirty="0"/>
          </a:p>
          <a:p>
            <a:pPr marL="0" indent="0">
              <a:buNone/>
            </a:pPr>
            <a:r>
              <a:rPr lang="en-US" sz="1300" u="sng" dirty="0">
                <a:solidFill>
                  <a:srgbClr val="00000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https://docs.streamlit.io/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114800" y="4178808"/>
            <a:ext cx="7498080" cy="859536"/>
          </a:xfrm>
          <a:prstGeom prst="roundRect">
            <a:avLst>
              <a:gd name="adj" fmla="val 1276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297680" y="439826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297680" y="4398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937760" y="4178808"/>
            <a:ext cx="6492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OpenCV. Official computer vision library documentation.</a:t>
            </a:r>
            <a:endParaRPr lang="en-US" sz="1400" dirty="0"/>
          </a:p>
          <a:p>
            <a:pPr marL="0" indent="0">
              <a:buNone/>
            </a:pPr>
            <a:r>
              <a:rPr lang="en-US" sz="1300" u="sng" dirty="0">
                <a:solidFill>
                  <a:srgbClr val="00000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https://docs.opencv.org/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114800" y="5129784"/>
            <a:ext cx="7498080" cy="859536"/>
          </a:xfrm>
          <a:prstGeom prst="roundRect">
            <a:avLst>
              <a:gd name="adj" fmla="val 1276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297680" y="53492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297680" y="5349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937760" y="5129784"/>
            <a:ext cx="6492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Folium. Python library for interactive Leaflet maps.</a:t>
            </a:r>
            <a:endParaRPr lang="en-US" sz="1400" dirty="0"/>
          </a:p>
          <a:p>
            <a:pPr marL="0" indent="0">
              <a:buNone/>
            </a:pPr>
            <a:r>
              <a:rPr lang="en-US" sz="1300" u="sng" dirty="0">
                <a:solidFill>
                  <a:srgbClr val="00000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https://python-visualization.github.io/folium/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188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331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CiviTwin AI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9718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Flood-Ready Streets. Safer Communities. Data-Driven Resilience.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31520" y="3931920"/>
            <a:ext cx="31089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3931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Questions and Discussion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5720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Bharath Reddy Gummana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P. Sharmila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Y. Muni Jagan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440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Department of Civil Engineering, KSRM College of Engineering, Kadapa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594360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5943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Predict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331720" y="594360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331720" y="5943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Prepare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931920" y="594360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31920" y="5943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Protect</a:t>
            </a:r>
            <a:endParaRPr lang="en-US" sz="1400" dirty="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CiviTwin">
  <a:themeElements>
    <a:clrScheme name="CiviTwin">
      <a:dk1>
        <a:srgbClr val="0B1220"/>
      </a:dk1>
      <a:lt1>
        <a:srgbClr val="FFFFFF"/>
      </a:lt1>
      <a:dk2>
        <a:srgbClr val="13233F"/>
      </a:dk2>
      <a:lt2>
        <a:srgbClr val="EEF3F8"/>
      </a:lt2>
      <a:accent1>
        <a:srgbClr val="14B8A6"/>
      </a:accent1>
      <a:accent2>
        <a:srgbClr val="F59E0B"/>
      </a:accent2>
      <a:accent3>
        <a:srgbClr val="38BDF8"/>
      </a:accent3>
      <a:accent4>
        <a:srgbClr val="EF4444"/>
      </a:accent4>
      <a:accent5>
        <a:srgbClr val="64748B"/>
      </a:accent5>
      <a:accent6>
        <a:srgbClr val="22C55E"/>
      </a:accent6>
      <a:hlink>
        <a:srgbClr val="0E9F8E"/>
      </a:hlink>
      <a:folHlink>
        <a:srgbClr val="64748B"/>
      </a:folHlink>
    </a:clrScheme>
    <a:fontScheme name="CiviTwi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1181</Words>
  <Application>Microsoft Office PowerPoint</Application>
  <PresentationFormat>Widescreen</PresentationFormat>
  <Paragraphs>195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CiviTwin</vt:lpstr>
      <vt:lpstr>CiviTwin AI</vt:lpstr>
      <vt:lpstr>The Challenge: Reactive Road Maintenance</vt:lpstr>
      <vt:lpstr>Introducing CiviTwin AI</vt:lpstr>
      <vt:lpstr>Objectives and Novelty</vt:lpstr>
      <vt:lpstr>Technology Approach and Architecture</vt:lpstr>
      <vt:lpstr>How CiviTwin AI Works</vt:lpstr>
      <vt:lpstr>Proposed Software Prototype</vt:lpstr>
      <vt:lpstr>Feasibility, Viability and Impact</vt:lpstr>
      <vt:lpstr>References Taken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CiviTwin AI - Hackathon Presentation</dc:title>
  <dc:subject>PptxGenJS Presentation</dc:subject>
  <dc:creator>Bharath Reddy Gummana</dc:creator>
  <cp:lastModifiedBy>Gummana Bharath Reddy</cp:lastModifiedBy>
  <cp:revision>1</cp:revision>
  <dcterms:created xsi:type="dcterms:W3CDTF">2026-10-11T03:54:54Z</dcterms:created>
  <dcterms:modified xsi:type="dcterms:W3CDTF">2026-10-11T14:41:13Z</dcterms:modified>
</cp:coreProperties>
</file>